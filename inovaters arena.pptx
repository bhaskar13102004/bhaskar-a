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9F399EA-92F2-48A5-8357-460B638510B0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Untitled Section" id="{CD4148E5-C6F4-4916-834E-28A2670BE6F5}">
          <p14:sldIdLst/>
        </p14:section>
        <p14:section name="Untitled Section" id="{E93675BE-23FD-4A73-B9C7-68EC2EFCB00A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409" autoAdjust="0"/>
  </p:normalViewPr>
  <p:slideViewPr>
    <p:cSldViewPr snapToGrid="0">
      <p:cViewPr varScale="1">
        <p:scale>
          <a:sx n="59" d="100"/>
          <a:sy n="59" d="100"/>
        </p:scale>
        <p:origin x="3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25C505-B7E3-4EAA-8A57-EEC1388A8CC3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665E4B-30C6-4FC1-B354-752440458A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32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665E4B-30C6-4FC1-B354-752440458AE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940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665E4B-30C6-4FC1-B354-752440458AE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853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665E4B-30C6-4FC1-B354-752440458AE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687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665E4B-30C6-4FC1-B354-752440458AE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2352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665E4B-30C6-4FC1-B354-752440458AE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13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48891-72CC-938E-D428-2A831CA1F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B92F6F-0BB6-54DA-B08A-95431633AB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416C7-6550-0AFA-7934-DE2F1EC75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0300F-0616-439D-813D-CB5F74C5F9EC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C2D59-B2B3-F5BE-88CC-A4BCDB44F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70B3F-20AC-C572-2AFC-E43198F23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DAD08-8233-4597-955B-8F9F65E143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343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F44C7-22A5-B382-146C-1705D4517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26330-1CEF-AAC4-CD6A-0EAA2FB9F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B0E30-910C-04BD-E6EB-DF90B1BD7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0300F-0616-439D-813D-CB5F74C5F9EC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10DD5-D498-02C0-6480-F08103622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5C8DD-4A89-F867-27E9-C74D6763F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DAD08-8233-4597-955B-8F9F65E143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26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881F1-DB5F-AC53-366E-2F69DC6D7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9FC0E0-E7B9-83E7-5170-D0D96BD67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E7FAD-7C02-AF4C-1AF6-CB484A7D4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0300F-0616-439D-813D-CB5F74C5F9EC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C706F-DFDF-658F-DFE6-1688B6C06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18956-92B8-B446-8FBB-CC4572CD1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DAD08-8233-4597-955B-8F9F65E143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317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44E3D-6892-4542-E045-D9EEC3428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25061-6FE5-C4E0-DCF3-E5719B571E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E5F8D-99E6-25E2-089C-01FCB442A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93B9F9-5E79-17D8-2744-5C1FCA6FD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0300F-0616-439D-813D-CB5F74C5F9EC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C64454-7104-ED0B-D0DA-1CF2C1476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524420-C839-FF45-B122-0825582C0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DAD08-8233-4597-955B-8F9F65E143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269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54BA6-3F04-903C-1C5D-B2406A2CB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DB82A-54FB-BFA5-F48C-1C6BC187B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59C506-A5C1-4059-5DA2-6E91F0FC67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80F030-267D-9CD8-6762-00D0DD92B3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62C271-37E4-8343-7FB5-4B7D5C1ED8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DF1882-533D-A992-32B8-C89910B0E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0300F-0616-439D-813D-CB5F74C5F9EC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22BBB0-AF66-60DC-8842-880FE1273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4B3E48-01F0-605C-D0B5-B47286985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DAD08-8233-4597-955B-8F9F65E143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298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6CE30-9C13-3014-2B9A-FE93334E3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AB5FB7-7340-0736-0C1A-AB0B033CC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0300F-0616-439D-813D-CB5F74C5F9EC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352DCB-20E4-11E7-F736-413086744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5DBF6E-7DB7-40C1-F536-69A1EA910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DAD08-8233-4597-955B-8F9F65E143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767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A00BCC-8698-7FD7-ABFA-CFB81FCDE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0300F-0616-439D-813D-CB5F74C5F9EC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58A663-D8BF-4975-6088-1B88B9A7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17BFC-70E3-4280-23A7-63421BD21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DAD08-8233-4597-955B-8F9F65E143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1948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55F17-2165-1ED0-6B5C-FF76042F9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8D627-AC65-6683-8EE5-3FF85B224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AFD9D4-CF1D-CF87-9474-D1480AD0B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592F43-CB76-861B-244C-79A2AB522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0300F-0616-439D-813D-CB5F74C5F9EC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88A95-A3E9-AA5C-0504-8F680058B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95F6B-377C-4F7B-4E56-9E31AE120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DAD08-8233-4597-955B-8F9F65E143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524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70AD2-3E3C-D01D-D2D7-CB90D3240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C7F67C-51F4-5DC8-57B7-D01AC73DB5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4CFC74-E674-E4B2-2763-9636A13740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B314A-29FE-C30E-286B-C8F4BB943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0300F-0616-439D-813D-CB5F74C5F9EC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31CD79-05E3-E1D6-0852-E987E65F9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DB48D1-249A-DF61-727A-94686F4DF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DAD08-8233-4597-955B-8F9F65E143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7961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41C00-B9FB-CE6A-5C9F-863BCB47D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AA2496-3E68-C4B8-19A8-8E6C6A4A7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3033E-E276-698F-398A-73415FC0C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0300F-0616-439D-813D-CB5F74C5F9EC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B6000-A2B2-A525-B6F2-53E90FF03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56896-BD2D-31CF-37AD-FBF3287B4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DAD08-8233-4597-955B-8F9F65E143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975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C66AE7-D197-5AD3-8622-F0F172F1DA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C6A0D1-5A32-3C08-1FCA-ADF96A2129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AD235-8B4A-51F1-A632-C2FD3326D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0300F-0616-439D-813D-CB5F74C5F9EC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F0510-A722-7801-05BA-216EAEDE5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99FC4-F46F-8C25-2C93-95E4507F8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DAD08-8233-4597-955B-8F9F65E143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723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236170-CF15-DE9B-71D9-0E7634DF4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2AFEB0-C41D-1ACB-4ECA-AA7DD8CB8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18500-A3DE-348C-ED52-627ACBC54E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90300F-0616-439D-813D-CB5F74C5F9EC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F859F-2068-803C-6D03-644657DDAF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7DE40-9EA6-AFD1-0B78-4629D3C2A6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5DAD08-8233-4597-955B-8F9F65E143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199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obot and a hand touching a finger">
            <a:extLst>
              <a:ext uri="{FF2B5EF4-FFF2-40B4-BE49-F238E27FC236}">
                <a16:creationId xmlns:a16="http://schemas.microsoft.com/office/drawing/2014/main" id="{82DFCE8F-290E-68FC-BACE-15F96348D21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5CAE073B-8FA5-0C05-113D-A0894FB1EA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8773" y="217060"/>
            <a:ext cx="8799227" cy="90720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INNOVATERS ARENA</a:t>
            </a:r>
            <a:endParaRPr lang="en-IN" b="1" dirty="0">
              <a:solidFill>
                <a:schemeClr val="accent1">
                  <a:lumMod val="20000"/>
                  <a:lumOff val="80000"/>
                </a:schemeClr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88DD76-AFB6-4DEE-4312-36603C6B14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58793" y="5558254"/>
            <a:ext cx="2733207" cy="1299746"/>
          </a:xfrm>
        </p:spPr>
        <p:txBody>
          <a:bodyPr>
            <a:normAutofit lnSpcReduction="10000"/>
          </a:bodyPr>
          <a:lstStyle/>
          <a:p>
            <a:pPr algn="l"/>
            <a:r>
              <a:rPr lang="en-US" b="1" dirty="0">
                <a:solidFill>
                  <a:schemeClr val="tx2">
                    <a:lumMod val="10000"/>
                    <a:lumOff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l"/>
            <a:r>
              <a:rPr lang="en-US" b="1" dirty="0">
                <a:solidFill>
                  <a:schemeClr val="tx2">
                    <a:lumMod val="10000"/>
                    <a:lumOff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Varshini S</a:t>
            </a:r>
          </a:p>
          <a:p>
            <a:pPr algn="l"/>
            <a:r>
              <a:rPr lang="en-US" b="1" dirty="0">
                <a:solidFill>
                  <a:schemeClr val="tx2">
                    <a:lumMod val="10000"/>
                    <a:lumOff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ISC</a:t>
            </a:r>
            <a:endParaRPr lang="en-IN" b="1" dirty="0">
              <a:solidFill>
                <a:schemeClr val="tx2">
                  <a:lumMod val="10000"/>
                  <a:lumOff val="9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2604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A computer with icons on it&#10;&#10;AI-generated content may be incorrect.">
            <a:extLst>
              <a:ext uri="{FF2B5EF4-FFF2-40B4-BE49-F238E27FC236}">
                <a16:creationId xmlns:a16="http://schemas.microsoft.com/office/drawing/2014/main" id="{64D36D01-2D3F-0D2E-6ECC-570FA35F7A9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1" y="0"/>
            <a:ext cx="1218825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7DFE65-F103-2445-86E3-1315515A2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2923"/>
            <a:ext cx="8435076" cy="83099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400" dirty="0">
                <a:solidFill>
                  <a:schemeClr val="tx2"/>
                </a:solidFill>
                <a:latin typeface="Algerian" panose="04020705040A02060702" pitchFamily="82" charset="0"/>
              </a:rPr>
              <a:t>Real-time Problem In IT Sector</a:t>
            </a:r>
            <a:br>
              <a:rPr lang="en-US" sz="4400" dirty="0">
                <a:solidFill>
                  <a:srgbClr val="EBEBEB"/>
                </a:solidFill>
                <a:latin typeface="Algerian" panose="04020705040A02060702" pitchFamily="82" charset="0"/>
              </a:rPr>
            </a:br>
            <a:endParaRPr lang="en-US" sz="4400" dirty="0">
              <a:solidFill>
                <a:srgbClr val="EBEBEB"/>
              </a:solidFill>
              <a:latin typeface="Algerian" panose="04020705040A02060702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9F8525-F5D8-A4BC-62A2-667FD56B7EC4}"/>
              </a:ext>
            </a:extLst>
          </p:cNvPr>
          <p:cNvSpPr txBox="1"/>
          <p:nvPr/>
        </p:nvSpPr>
        <p:spPr>
          <a:xfrm>
            <a:off x="325526" y="610020"/>
            <a:ext cx="778402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Cyber security breaches</a:t>
            </a:r>
            <a:br>
              <a:rPr lang="en-US" sz="2400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</a:br>
            <a:endParaRPr lang="en-IN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CFC9F98D-576A-115F-FDE5-7A0FC6054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956" y="1175158"/>
            <a:ext cx="11370518" cy="5491396"/>
          </a:xfrm>
        </p:spPr>
        <p:txBody>
          <a:bodyPr>
            <a:noAutofit/>
          </a:bodyPr>
          <a:lstStyle/>
          <a:p>
            <a:r>
              <a:rPr lang="en-US" sz="29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cybersecurity breach happens when an unauthorized party gains access to a company’s or individual’s data, systems, or network. These breaches can lead to:</a:t>
            </a:r>
          </a:p>
          <a:p>
            <a:r>
              <a:rPr lang="en-US" sz="29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Theft of sensitive data</a:t>
            </a:r>
          </a:p>
          <a:p>
            <a:r>
              <a:rPr lang="en-US" sz="29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loss</a:t>
            </a:r>
          </a:p>
          <a:p>
            <a:r>
              <a:rPr lang="en-US" sz="29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Reputation damage</a:t>
            </a:r>
          </a:p>
          <a:p>
            <a:r>
              <a:rPr lang="en-US" sz="29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Legal consequences</a:t>
            </a:r>
          </a:p>
          <a:p>
            <a:pPr marL="0" indent="0">
              <a:buNone/>
            </a:pPr>
            <a:r>
              <a:rPr lang="en-US" sz="29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CAUSES:</a:t>
            </a:r>
          </a:p>
          <a:p>
            <a:r>
              <a:rPr lang="en-US" sz="29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Weak or reused passwords</a:t>
            </a:r>
          </a:p>
          <a:p>
            <a:r>
              <a:rPr lang="en-US" sz="29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Unpatched software vulnerabilities</a:t>
            </a:r>
          </a:p>
          <a:p>
            <a:r>
              <a:rPr lang="en-US" sz="29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Phishing attacks and social engineering</a:t>
            </a:r>
          </a:p>
          <a:p>
            <a:pPr marL="0" indent="0">
              <a:buNone/>
            </a:pPr>
            <a:endParaRPr lang="en-US" sz="2900" dirty="0"/>
          </a:p>
          <a:p>
            <a:endParaRPr lang="en-IN" sz="2900" dirty="0"/>
          </a:p>
        </p:txBody>
      </p:sp>
    </p:spTree>
    <p:extLst>
      <p:ext uri="{BB962C8B-B14F-4D97-AF65-F5344CB8AC3E}">
        <p14:creationId xmlns:p14="http://schemas.microsoft.com/office/powerpoint/2010/main" val="1481992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computer with icons on it&#10;&#10;AI-generated content may be incorrect.">
            <a:extLst>
              <a:ext uri="{FF2B5EF4-FFF2-40B4-BE49-F238E27FC236}">
                <a16:creationId xmlns:a16="http://schemas.microsoft.com/office/drawing/2014/main" id="{7D0594D1-2761-4194-D40F-1EB1ED1BD3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590683-A0E1-0E1F-436F-99A9156BB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Misconfigured cloud services</a:t>
            </a:r>
            <a:b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Example:</a:t>
            </a:r>
            <a:b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2021,Colonial Pipeline in the U.S. was hit by a ransomware attack, which disrupted fuel supply and led to a major crisis.</a:t>
            </a:r>
            <a:b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Solutions to prevent cyber security breaches:</a:t>
            </a:r>
            <a:b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1.Strong Access Control</a:t>
            </a:r>
            <a:b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multi-factor authentication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protect user accounts.</a:t>
            </a:r>
            <a:b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access, 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user only access what they need.</a:t>
            </a:r>
            <a:b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2.Regular Security Updates &amp; Patch Management</a:t>
            </a:r>
            <a:b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 software and systems up to </a:t>
            </a:r>
            <a:r>
              <a:rPr lang="en-US" sz="32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date. 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Patch known vulnerabilities quickly</a:t>
            </a:r>
            <a:endParaRPr lang="en-IN" sz="3200" b="1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168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blue lock with a key&#10;&#10;AI-generated content may be incorrect.">
            <a:extLst>
              <a:ext uri="{FF2B5EF4-FFF2-40B4-BE49-F238E27FC236}">
                <a16:creationId xmlns:a16="http://schemas.microsoft.com/office/drawing/2014/main" id="{1AA1D2D8-9066-FA76-9849-634FC48BA0B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65" b="1"/>
          <a:stretch/>
        </p:blipFill>
        <p:spPr>
          <a:xfrm>
            <a:off x="0" y="10"/>
            <a:ext cx="12128755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2E49AD3-018A-92AD-77A9-732F464C3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135" y="466607"/>
            <a:ext cx="11524680" cy="53572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Training  Awareness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Conduct regular training on how to spot phishing emails and scams.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simulated phishing tests.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Advanced Threat Detection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firewalls, intrusion detection systems(IDS), and antivirus software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AI-driven tools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real time threat monitoring and anomaly detection.</a:t>
            </a:r>
          </a:p>
          <a:p>
            <a:pPr marL="0" indent="0">
              <a:buNone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 Encryption</a:t>
            </a:r>
          </a:p>
          <a:p>
            <a:pPr marL="0" indent="0">
              <a:buNone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Encrypt data both at rest and in transit.</a:t>
            </a:r>
          </a:p>
          <a:p>
            <a:pPr marL="0" indent="0">
              <a:buNone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ensures stolen data is useless without a decryption key.</a:t>
            </a:r>
          </a:p>
        </p:txBody>
      </p:sp>
    </p:spTree>
    <p:extLst>
      <p:ext uri="{BB962C8B-B14F-4D97-AF65-F5344CB8AC3E}">
        <p14:creationId xmlns:p14="http://schemas.microsoft.com/office/powerpoint/2010/main" val="1776423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A094A8F1-74BE-73FC-6085-790CF7E25E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CDE4760-075E-B9BE-CF3E-8677EE2B0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6957" y="114300"/>
            <a:ext cx="12045043" cy="6743699"/>
          </a:xfrm>
        </p:spPr>
        <p:txBody>
          <a:bodyPr>
            <a:noAutofit/>
          </a:bodyPr>
          <a:lstStyle/>
          <a:p>
            <a:r>
              <a:rPr lang="en-US" sz="31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Enhancement:</a:t>
            </a:r>
          </a:p>
          <a:p>
            <a:pPr marL="457200" indent="-457200">
              <a:buAutoNum type="arabicPeriod"/>
            </a:pPr>
            <a:r>
              <a:rPr lang="en-US" sz="31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Adoption of zero trust architecture: </a:t>
            </a:r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minimizing the risk of internal and external threats. ()</a:t>
            </a:r>
          </a:p>
          <a:p>
            <a:pPr marL="457200" indent="-457200">
              <a:buAutoNum type="arabicPeriod" startAt="2"/>
            </a:pPr>
            <a:r>
              <a:rPr lang="en-US" sz="31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AI and Machine Learning: </a:t>
            </a:r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enhances the ability to detect the anomalies </a:t>
            </a:r>
            <a:r>
              <a:rPr lang="en-IN" sz="31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AutoNum type="arabicPeriod" startAt="3"/>
            </a:pPr>
            <a:r>
              <a:rPr lang="en-IN" sz="31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Regulatory Compliance: </a:t>
            </a:r>
            <a:r>
              <a:rPr lang="en-IN" sz="3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the increasing frequency of cyberattacks governments are updating cybersecurity regulations, urging organizations to adopt comprehensive security frameworks</a:t>
            </a:r>
          </a:p>
          <a:p>
            <a:r>
              <a:rPr lang="en-IN" sz="31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r>
              <a:rPr lang="en-IN" sz="31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breaches are growing threat that demand urgent attention.</a:t>
            </a:r>
          </a:p>
          <a:p>
            <a:r>
              <a:rPr lang="en-IN" sz="3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Strengthening </a:t>
            </a:r>
            <a:r>
              <a:rPr lang="en-IN" sz="31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defenses</a:t>
            </a:r>
            <a:r>
              <a:rPr lang="en-IN" sz="3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raising awareness , and staying updated with the latest security practises are essential to protect sensitive data and ensure digital safety</a:t>
            </a:r>
            <a:r>
              <a:rPr lang="en-IN" sz="3100" dirty="0">
                <a:solidFill>
                  <a:schemeClr val="accent1">
                    <a:lumMod val="75000"/>
                  </a:schemeClr>
                </a:solidFill>
              </a:rPr>
              <a:t>.</a:t>
            </a:r>
            <a:endParaRPr lang="en-US" sz="31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566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96A89-CBB0-686C-AD5F-86FB7460D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 descr="A thank you sign on a surface">
            <a:extLst>
              <a:ext uri="{FF2B5EF4-FFF2-40B4-BE49-F238E27FC236}">
                <a16:creationId xmlns:a16="http://schemas.microsoft.com/office/drawing/2014/main" id="{078D749C-71F7-7C31-E8D6-66101BDC1B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9807"/>
            <a:ext cx="12192000" cy="7037614"/>
          </a:xfrm>
        </p:spPr>
      </p:pic>
    </p:spTree>
    <p:extLst>
      <p:ext uri="{BB962C8B-B14F-4D97-AF65-F5344CB8AC3E}">
        <p14:creationId xmlns:p14="http://schemas.microsoft.com/office/powerpoint/2010/main" val="86549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698</TotalTime>
  <Words>346</Words>
  <Application>Microsoft Office PowerPoint</Application>
  <PresentationFormat>Widescreen</PresentationFormat>
  <Paragraphs>37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Algerian</vt:lpstr>
      <vt:lpstr>Aptos</vt:lpstr>
      <vt:lpstr>Aptos Display</vt:lpstr>
      <vt:lpstr>Arial</vt:lpstr>
      <vt:lpstr>Times New Roman</vt:lpstr>
      <vt:lpstr>Office Theme</vt:lpstr>
      <vt:lpstr>INNOVATERS ARENA</vt:lpstr>
      <vt:lpstr>Real-time Problem In IT Sector </vt:lpstr>
      <vt:lpstr>Misconfigured cloud services Real Example: In 2021,Colonial Pipeline in the U.S. was hit by a ransomware attack, which disrupted fuel supply and led to a major crisis.  Solutions to prevent cyber security breaches:  1.Strong Access Control Use multi-factor authentication to protect user accounts. Implement role-based access, so user only access what they need.  2.Regular Security Updates &amp; Patch Management keep software and systems up to date.  Patch known vulnerabilities quickly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atbnp6v</dc:creator>
  <cp:lastModifiedBy>atbnp6v</cp:lastModifiedBy>
  <cp:revision>8</cp:revision>
  <dcterms:created xsi:type="dcterms:W3CDTF">2025-04-09T14:21:54Z</dcterms:created>
  <dcterms:modified xsi:type="dcterms:W3CDTF">2025-04-10T10:33:39Z</dcterms:modified>
</cp:coreProperties>
</file>